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54864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105156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4" name="Shape 2"/>
          <p:cNvSpPr/>
          <p:nvPr/>
        </p:nvSpPr>
        <p:spPr>
          <a:xfrm>
            <a:off x="8778240" y="155448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5" name="Shape 3"/>
          <p:cNvSpPr/>
          <p:nvPr/>
        </p:nvSpPr>
        <p:spPr>
          <a:xfrm>
            <a:off x="8778240" y="205740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6" name="Shape 4"/>
          <p:cNvSpPr/>
          <p:nvPr/>
        </p:nvSpPr>
        <p:spPr>
          <a:xfrm>
            <a:off x="9281160" y="54864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7" name="Shape 5"/>
          <p:cNvSpPr/>
          <p:nvPr/>
        </p:nvSpPr>
        <p:spPr>
          <a:xfrm>
            <a:off x="9281160" y="105156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8" name="Shape 6"/>
          <p:cNvSpPr/>
          <p:nvPr/>
        </p:nvSpPr>
        <p:spPr>
          <a:xfrm>
            <a:off x="9281160" y="155448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9" name="Shape 7"/>
          <p:cNvSpPr/>
          <p:nvPr/>
        </p:nvSpPr>
        <p:spPr>
          <a:xfrm>
            <a:off x="9281160" y="205740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54864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11" name="Shape 9"/>
          <p:cNvSpPr/>
          <p:nvPr/>
        </p:nvSpPr>
        <p:spPr>
          <a:xfrm>
            <a:off x="9784080" y="105156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12" name="Shape 10"/>
          <p:cNvSpPr/>
          <p:nvPr/>
        </p:nvSpPr>
        <p:spPr>
          <a:xfrm>
            <a:off x="9784080" y="155448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13" name="Shape 11"/>
          <p:cNvSpPr/>
          <p:nvPr/>
        </p:nvSpPr>
        <p:spPr>
          <a:xfrm>
            <a:off x="9784080" y="205740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87000" y="54864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15" name="Shape 13"/>
          <p:cNvSpPr/>
          <p:nvPr/>
        </p:nvSpPr>
        <p:spPr>
          <a:xfrm>
            <a:off x="10287000" y="105156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16" name="Shape 14"/>
          <p:cNvSpPr/>
          <p:nvPr/>
        </p:nvSpPr>
        <p:spPr>
          <a:xfrm>
            <a:off x="10287000" y="155448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87000" y="205740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18" name="Shape 16"/>
          <p:cNvSpPr/>
          <p:nvPr/>
        </p:nvSpPr>
        <p:spPr>
          <a:xfrm>
            <a:off x="10789920" y="54864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19" name="Shape 17"/>
          <p:cNvSpPr/>
          <p:nvPr/>
        </p:nvSpPr>
        <p:spPr>
          <a:xfrm>
            <a:off x="10789920" y="105156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89920" y="155448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21" name="Shape 19"/>
          <p:cNvSpPr/>
          <p:nvPr/>
        </p:nvSpPr>
        <p:spPr>
          <a:xfrm>
            <a:off x="10789920" y="205740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22" name="Shape 20"/>
          <p:cNvSpPr/>
          <p:nvPr/>
        </p:nvSpPr>
        <p:spPr>
          <a:xfrm>
            <a:off x="11292840" y="54864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92840" y="105156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24" name="Shape 22"/>
          <p:cNvSpPr/>
          <p:nvPr/>
        </p:nvSpPr>
        <p:spPr>
          <a:xfrm>
            <a:off x="11292840" y="155448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25" name="Shape 23"/>
          <p:cNvSpPr/>
          <p:nvPr/>
        </p:nvSpPr>
        <p:spPr>
          <a:xfrm>
            <a:off x="11292840" y="2057400"/>
            <a:ext cx="82296" cy="82296"/>
          </a:xfrm>
          <a:prstGeom prst="ellipse">
            <a:avLst/>
          </a:prstGeom>
          <a:solidFill>
            <a:srgbClr val="2E4444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6309360"/>
            <a:ext cx="12188952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HIROSHIMA AI SUMMER HACKATHON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" y="19659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AI離職予防・人材定着支援サービス</a:t>
            </a:r>
            <a:endParaRPr lang="en-US" sz="4000" dirty="0"/>
          </a:p>
        </p:txBody>
      </p:sp>
      <p:sp>
        <p:nvSpPr>
          <p:cNvPr id="29" name="Shape 27"/>
          <p:cNvSpPr/>
          <p:nvPr/>
        </p:nvSpPr>
        <p:spPr>
          <a:xfrm>
            <a:off x="749808" y="2880360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30632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離職を予測するだけでは、企業は変わらない。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1520" y="34747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予測し、原因を理解し、行動する。AIによって、離職する前に企業が変わる。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対象：広島県の企業（中小〜中堅企業）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760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8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広島は、去っていく若者と</a:t>
            </a:r>
            <a:endParaRPr lang="en-US" sz="2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8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人手が欲しい企業が、</a:t>
            </a:r>
            <a:endParaRPr lang="en-US" sz="2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8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すれ違っている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5760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0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誰が？　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広島県内の中小〜中堅企業の人事担当者・経営者
</a:t>
            </a:r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0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どんな場面で？　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人手不足の中、離職の予兆に気づけず対応が後手に回る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040880" y="0"/>
            <a:ext cx="5148072" cy="6858000"/>
          </a:xfrm>
          <a:prstGeom prst="rect">
            <a:avLst/>
          </a:prstGeom>
          <a:solidFill>
            <a:srgbClr val="1C2B2B"/>
          </a:solidFill>
          <a:ln/>
        </p:spPr>
      </p:sp>
      <p:sp>
        <p:nvSpPr>
          <p:cNvPr id="6" name="Text 4"/>
          <p:cNvSpPr/>
          <p:nvPr/>
        </p:nvSpPr>
        <p:spPr>
          <a:xfrm>
            <a:off x="7452360" y="82296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転出超過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52360" y="1188720"/>
            <a:ext cx="4297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5年連続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全国最多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7470648" y="2788920"/>
            <a:ext cx="4206240" cy="18288"/>
          </a:xfrm>
          <a:prstGeom prst="rect">
            <a:avLst/>
          </a:prstGeom>
          <a:solidFill>
            <a:srgbClr val="3A5555"/>
          </a:solidFill>
          <a:ln/>
        </p:spPr>
      </p:sp>
      <p:sp>
        <p:nvSpPr>
          <p:cNvPr id="9" name="Text 7"/>
          <p:cNvSpPr/>
          <p:nvPr/>
        </p:nvSpPr>
        <p:spPr>
          <a:xfrm>
            <a:off x="7452360" y="30175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20代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452360" y="35204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転出の約6割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52360" y="41148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51.7%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452360" y="47091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企業が人手不足と回答（前年比悪化）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52360" y="5486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8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人口減少 21年連続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64922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A3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出典：広島県推計人口／中国新聞・Yahoo!ニュース人口移動報告／広島商工会議所連合会調査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解決策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予測して、理由を説明し、対策まで提案するAI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× Explanation × Intervention　</a:t>
            </a:r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離職率をゼロにするのではなく、早期に予兆を検知し、個別に対応できる状態をつくる。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F6B5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77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23317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離職リスクをスコア化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69748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従業員データから離職リスクを定量的に算出（LightGBM／ROC-AUC 0.798）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474720"/>
            <a:ext cx="10881360" cy="10973"/>
          </a:xfrm>
          <a:prstGeom prst="rect">
            <a:avLst/>
          </a:prstGeom>
          <a:solidFill>
            <a:srgbClr val="E5E9E8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356616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5661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3520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なぜ高リスクか説明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508760" y="388620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数値だけでなく、自然文で原因を分析（Claude API）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0973"/>
          </a:xfrm>
          <a:prstGeom prst="rect">
            <a:avLst/>
          </a:prstGeom>
          <a:solidFill>
            <a:srgbClr val="E5E9E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47548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F6B5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754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7091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企業の制度を踏まえ提案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08760" y="507492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自社の制度に沿った、実行可能な定着施策を提示（簡易RAG）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デモ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ここから実演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従業員を選択すると、AIが予測・説明・提案を行います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80160" y="3749040"/>
            <a:ext cx="9628632" cy="18288"/>
          </a:xfrm>
          <a:prstGeom prst="rect">
            <a:avLst/>
          </a:prstGeom>
          <a:solidFill>
            <a:srgbClr val="3A5555"/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" y="3566160"/>
            <a:ext cx="402336" cy="402336"/>
          </a:xfrm>
          <a:prstGeom prst="ellipse">
            <a:avLst/>
          </a:prstGeom>
          <a:solidFill>
            <a:srgbClr val="0F6B5C"/>
          </a:solidFill>
          <a:ln w="38100">
            <a:solidFill>
              <a:srgbClr val="1C2B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" y="3566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従業員選択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88536" y="3566160"/>
            <a:ext cx="402336" cy="402336"/>
          </a:xfrm>
          <a:prstGeom prst="ellipse">
            <a:avLst/>
          </a:prstGeom>
          <a:solidFill>
            <a:srgbClr val="0F6B5C"/>
          </a:solidFill>
          <a:ln w="38100">
            <a:solidFill>
              <a:srgbClr val="1C2B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88536" y="3566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83864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リスクスコア表示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498080" y="3566160"/>
            <a:ext cx="402336" cy="402336"/>
          </a:xfrm>
          <a:prstGeom prst="ellipse">
            <a:avLst/>
          </a:prstGeom>
          <a:solidFill>
            <a:srgbClr val="0F6B5C"/>
          </a:solidFill>
          <a:ln w="38100">
            <a:solidFill>
              <a:srgbClr val="1C2B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0" y="3566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93408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原因分析（LLM）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707624" y="3566160"/>
            <a:ext cx="402336" cy="402336"/>
          </a:xfrm>
          <a:prstGeom prst="ellipse">
            <a:avLst/>
          </a:prstGeom>
          <a:solidFill>
            <a:srgbClr val="02C39A"/>
          </a:solidFill>
          <a:ln w="38100">
            <a:solidFill>
              <a:srgbClr val="1C2B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07624" y="3566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02952" y="41148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施策提案（簡易RAG）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3949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高リスク従業員（#622／93.2%）で実演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事業性・将来性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8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空白地帯にある、守りのHRテック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120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CE5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116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離職コスト（1人あたり）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180〜530万円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60120" y="31089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人手不足対策の77.7%は「採用強化」に偏り、デジタル活用はわずか26.6%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80760" y="1783080"/>
            <a:ext cx="5468112" cy="1965960"/>
          </a:xfrm>
          <a:prstGeom prst="roundRect">
            <a:avLst>
              <a:gd name="adj" fmla="val 2791"/>
            </a:avLst>
          </a:prstGeom>
          <a:solidFill>
            <a:srgbClr val="1C2B2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日本のHRテック市場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0" y="233172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21.6億ドル → 39.3億ドル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00800" y="31089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BD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2025年から2034年にかけて成長予測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10908792" cy="10973"/>
          </a:xfrm>
          <a:prstGeom prst="rect">
            <a:avLst/>
          </a:prstGeom>
          <a:solidFill>
            <a:srgbClr val="D3DED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2519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57200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LightGBM（Accuracy 0.840）＋ Claude API（Haiku／Sonnet使い分け）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06240" y="42519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将来性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06240" y="457200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離職リスクだけでなく、成長曲線・強み弱み・性質特質を含めた総合的な人材理解へ拡張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955280" y="42519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社会的価値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955280" y="457200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人材定着 → 若者の県外流出抑制 → 広島の地域経済維持へ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64922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A3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出典：エン・ジャパン離職コスト試算／広島商工会議所連合会調査／HRテック市場予測レポート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2026-08-24T09:56:42Z</dcterms:created>
  <dcterms:modified xsi:type="dcterms:W3CDTF">2026-08-24T09:56:42Z</dcterms:modified>
</cp:coreProperties>
</file>